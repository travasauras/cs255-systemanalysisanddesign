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66" autoAdjust="0"/>
    <p:restoredTop sz="65796" autoAdjust="0"/>
  </p:normalViewPr>
  <p:slideViewPr>
    <p:cSldViewPr snapToGrid="0">
      <p:cViewPr varScale="1">
        <p:scale>
          <a:sx n="48" d="100"/>
          <a:sy n="48" d="100"/>
        </p:scale>
        <p:origin x="804"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12/11/2025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a:t>
            </a:r>
            <a:r>
              <a:rPr lang="en-US" baseline="0" dirty="0"/>
              <a:t> speaker notes required for this slide.]</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The system requirements are a mix of functional and nonfunctional requirements.  Some functional requirements for the system will be letting the users log in with their own personalized account.  As a student, they will need to call </a:t>
            </a:r>
            <a:r>
              <a:rPr lang="en-US" baseline="0" dirty="0" err="1"/>
              <a:t>DriverPass</a:t>
            </a:r>
            <a:r>
              <a:rPr lang="en-US" baseline="0" dirty="0"/>
              <a:t> and speak with a secretary who will then help them create a username and password to access the system.  As an admin or as Liam, they will have full access to all user data as well as capability of editing user data and disabling packages to sign up for. </a:t>
            </a:r>
          </a:p>
          <a:p>
            <a:endParaRPr lang="en-US" baseline="0" dirty="0"/>
          </a:p>
          <a:p>
            <a:r>
              <a:rPr lang="en-US" baseline="0" dirty="0"/>
              <a:t>Students will be allowed to take practice exams, schedule driving lessons, and check their progress to see just how ready they are for the DMV exam.  To ensure the system is up to date with actual DMV tests, the DMV will upload updates to make sure everything the student learns will help them on their journey to become a licensed driver.</a:t>
            </a:r>
          </a:p>
          <a:p>
            <a:endParaRPr lang="en-US" baseline="0" dirty="0"/>
          </a:p>
          <a:p>
            <a:r>
              <a:rPr lang="en-US" baseline="0" dirty="0"/>
              <a:t>There will be requirements that don’t necessarily relate to the functionality of the system.  One being that the </a:t>
            </a:r>
            <a:r>
              <a:rPr lang="en-US" baseline="0" dirty="0" err="1"/>
              <a:t>DriverPass</a:t>
            </a:r>
            <a:r>
              <a:rPr lang="en-US" baseline="0" dirty="0"/>
              <a:t> site will run on all web capable devices.  It will store data from the previous connection for Liam so he can view it from anywhere even without a web connection.  Logins will be safe and secure, passwords will be encrypted and only authorized users will have administrative access.</a:t>
            </a:r>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This Use Case Diagram shows all the potential actors within the system and how they will use it.  The actors in this system are Liam, Administrators, a </a:t>
            </a:r>
            <a:r>
              <a:rPr lang="en-US" baseline="0" dirty="0" err="1"/>
              <a:t>DriverPass</a:t>
            </a:r>
            <a:r>
              <a:rPr lang="en-US" baseline="0" dirty="0"/>
              <a:t> Secretary, a driving instructor, the DMV, and the student.</a:t>
            </a:r>
          </a:p>
          <a:p>
            <a:endParaRPr lang="en-US" baseline="0" dirty="0"/>
          </a:p>
          <a:p>
            <a:r>
              <a:rPr lang="en-US" baseline="0" dirty="0"/>
              <a:t>The driving student will be able to log in, schedule driving lessons, take practice tests, and view their progress.   Liam will be able to login, check student progress and disable packages as well as create and edit user login information in the case of a lockout due to multiple incorrect passwords or forgotten password.  An admin will login and be able to check student progress as well as edit user information. The </a:t>
            </a:r>
            <a:r>
              <a:rPr lang="en-US" baseline="0" dirty="0" err="1"/>
              <a:t>DriverPass</a:t>
            </a:r>
            <a:r>
              <a:rPr lang="en-US" baseline="0" dirty="0"/>
              <a:t> secretary will be able to create logins for students.  A driving instructor will be able check scheduled lessons with students, and the DMV will be able to update practice tests.</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use case diagram shows how a user will login to the system.  They start by entering their username, then password.  The system then checks if the username exists and then validates the password, leading the user to the home page of the system. If the username doesn’t exist, then the user is directed back to the login screen prompting them for the username.  If the password is invalid the user is redirected to the login screen to enter their password, if the user fails to enter the correct password after 5 attempts, then they are locked out of the system. </a:t>
            </a:r>
          </a:p>
          <a:p>
            <a:endParaRPr lang="en-US" dirty="0"/>
          </a:p>
          <a:p>
            <a:r>
              <a:rPr lang="en-US" dirty="0"/>
              <a:t>I felt </a:t>
            </a:r>
            <a:r>
              <a:rPr lang="en-US" dirty="0" err="1"/>
              <a:t>DriverPass</a:t>
            </a:r>
            <a:r>
              <a:rPr lang="en-US" dirty="0"/>
              <a:t> needed a bit of security in this process, so I added in a lockout if the user failed to enter the correct password after 5 times. </a:t>
            </a:r>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When designing the system, security was a large factor.  </a:t>
            </a:r>
            <a:r>
              <a:rPr lang="en-US" baseline="0" dirty="0" err="1"/>
              <a:t>DriverPass</a:t>
            </a:r>
            <a:r>
              <a:rPr lang="en-US" baseline="0" dirty="0"/>
              <a:t> will be handling sensitive information, and it is our job to protect that information.  We will be using industry standard practices to ensure all data being transferred is encrypted and only viewed by those who are allowed to view it.  Login lockouts will be part of the system to protect against any brute force hacks into a user’s profile. </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Liam wants to be able to access information while offline, though he will not be able to edit anything offline to prevent any duplication of data.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There are only so many cars and teachers available, so scheduling is first come first serve.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With no specified budget and the assumption that </a:t>
            </a:r>
            <a:r>
              <a:rPr lang="en-US" baseline="0" dirty="0" err="1"/>
              <a:t>DriverPass</a:t>
            </a:r>
            <a:r>
              <a:rPr lang="en-US" baseline="0" dirty="0"/>
              <a:t> is a small company, then keeping the overhead low will be a priority.  This could result in skipping some planned functionality.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Administrators need to be able to edit user info without needing to know how to code or query a database. </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12/11/2025</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12/11/2025</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12/11/2025</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12/11/2025</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12/11/2025</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12/11/2025</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12/11/2025</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12/11/2025</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12/11/2025</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12/11/2025</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12/11/2025</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12/11/2025</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a:solidFill>
                  <a:srgbClr val="FFFFFF"/>
                </a:solidFill>
              </a:rPr>
              <a:t>DriverPass</a:t>
            </a:r>
            <a:br>
              <a:rPr lang="en-US" dirty="0">
                <a:solidFill>
                  <a:srgbClr val="FFFFFF"/>
                </a:solidFill>
              </a:rPr>
            </a:br>
            <a:r>
              <a:rPr lang="en-US" dirty="0">
                <a:solidFill>
                  <a:srgbClr val="FFFFFF"/>
                </a:solidFill>
              </a:rPr>
              <a:t>System Analysis</a:t>
            </a:r>
          </a:p>
        </p:txBody>
      </p:sp>
      <p:sp>
        <p:nvSpPr>
          <p:cNvPr id="3" name="Content Placeholder 2"/>
          <p:cNvSpPr>
            <a:spLocks noGrp="1"/>
          </p:cNvSpPr>
          <p:nvPr>
            <p:ph type="subTitle" idx="1"/>
          </p:nvPr>
        </p:nvSpPr>
        <p:spPr>
          <a:xfrm>
            <a:off x="3045368" y="4074718"/>
            <a:ext cx="6105194" cy="682079"/>
          </a:xfrm>
        </p:spPr>
        <p:txBody>
          <a:bodyPr>
            <a:normAutofit/>
          </a:bodyPr>
          <a:lstStyle/>
          <a:p>
            <a:r>
              <a:rPr lang="en-US" dirty="0">
                <a:solidFill>
                  <a:srgbClr val="FFFFFF"/>
                </a:solidFill>
              </a:rPr>
              <a:t>Travis Erwin</a:t>
            </a:r>
            <a:endParaRPr dirty="0">
              <a:solidFill>
                <a:srgbClr val="FFFFFF"/>
              </a:solidFill>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Requirements</a:t>
            </a:r>
          </a:p>
        </p:txBody>
      </p:sp>
      <p:sp>
        <p:nvSpPr>
          <p:cNvPr id="3" name="Content Placeholder 2"/>
          <p:cNvSpPr>
            <a:spLocks noGrp="1"/>
          </p:cNvSpPr>
          <p:nvPr>
            <p:ph idx="1"/>
          </p:nvPr>
        </p:nvSpPr>
        <p:spPr>
          <a:xfrm>
            <a:off x="6090574" y="801866"/>
            <a:ext cx="5306084" cy="5230634"/>
          </a:xfrm>
        </p:spPr>
        <p:txBody>
          <a:bodyPr anchor="ctr">
            <a:normAutofit fontScale="92500" lnSpcReduction="20000"/>
          </a:bodyPr>
          <a:lstStyle/>
          <a:p>
            <a:r>
              <a:rPr lang="en-US" sz="2400" dirty="0">
                <a:solidFill>
                  <a:srgbClr val="000000"/>
                </a:solidFill>
              </a:rPr>
              <a:t>The system will allow users to login with their own accounts.</a:t>
            </a:r>
          </a:p>
          <a:p>
            <a:r>
              <a:rPr lang="en-US" sz="2400" dirty="0">
                <a:solidFill>
                  <a:srgbClr val="000000"/>
                </a:solidFill>
              </a:rPr>
              <a:t>It will allow students to take practice exams, schedule driving lessons, and check their progress towards the goal of becoming a licensed driver.</a:t>
            </a:r>
          </a:p>
          <a:p>
            <a:r>
              <a:rPr lang="en-US" sz="2400" dirty="0">
                <a:solidFill>
                  <a:srgbClr val="000000"/>
                </a:solidFill>
              </a:rPr>
              <a:t>It will allow administrators to access and edit data from all students and scheduled lessons. </a:t>
            </a:r>
          </a:p>
          <a:p>
            <a:r>
              <a:rPr lang="en-US" sz="2400" dirty="0">
                <a:solidFill>
                  <a:srgbClr val="000000"/>
                </a:solidFill>
              </a:rPr>
              <a:t>It will also allow the DMV to update practice tests.</a:t>
            </a:r>
          </a:p>
          <a:p>
            <a:r>
              <a:rPr lang="en-US" sz="2400" dirty="0">
                <a:solidFill>
                  <a:srgbClr val="000000"/>
                </a:solidFill>
              </a:rPr>
              <a:t>It should run on all web capable devices.</a:t>
            </a:r>
          </a:p>
          <a:p>
            <a:r>
              <a:rPr lang="en-US" sz="2400" dirty="0">
                <a:solidFill>
                  <a:srgbClr val="000000"/>
                </a:solidFill>
              </a:rPr>
              <a:t>Data will be viewable for Liam even without an internet connection.</a:t>
            </a:r>
          </a:p>
          <a:p>
            <a:r>
              <a:rPr lang="en-US" sz="2400" dirty="0">
                <a:solidFill>
                  <a:srgbClr val="000000"/>
                </a:solidFill>
              </a:rPr>
              <a:t>It should be safe and secure, encrypting passwords and only allowing authorized users to modify data in the system.</a:t>
            </a:r>
          </a:p>
          <a:p>
            <a:endParaRPr lang="en-US" sz="2400" dirty="0">
              <a:solidFill>
                <a:srgbClr val="000000"/>
              </a:solidFill>
            </a:endParaRPr>
          </a:p>
          <a:p>
            <a:endParaRPr lang="en-US" sz="2400" dirty="0">
              <a:solidFill>
                <a:srgbClr val="000000"/>
              </a:solidFill>
            </a:endParaRPr>
          </a:p>
          <a:p>
            <a:endParaRPr lang="en-US" sz="2400" dirty="0">
              <a:solidFill>
                <a:srgbClr val="000000"/>
              </a:solidFill>
            </a:endParaRP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Use Case Diagram</a:t>
            </a:r>
          </a:p>
        </p:txBody>
      </p:sp>
      <p:sp>
        <p:nvSpPr>
          <p:cNvPr id="3" name="Content Placeholder 2"/>
          <p:cNvSpPr>
            <a:spLocks noGrp="1"/>
          </p:cNvSpPr>
          <p:nvPr>
            <p:ph idx="1"/>
          </p:nvPr>
        </p:nvSpPr>
        <p:spPr>
          <a:xfrm>
            <a:off x="6090574" y="801866"/>
            <a:ext cx="5306084" cy="5230634"/>
          </a:xfrm>
        </p:spPr>
        <p:txBody>
          <a:bodyPr anchor="ctr">
            <a:normAutofit/>
          </a:bodyPr>
          <a:lstStyle/>
          <a:p>
            <a:pPr marL="0" indent="0">
              <a:buNone/>
            </a:pPr>
            <a:r>
              <a:rPr lang="en-US" sz="2400" dirty="0">
                <a:solidFill>
                  <a:srgbClr val="000000"/>
                </a:solidFill>
              </a:rPr>
              <a:t>[Insert your use case diagram here.]</a:t>
            </a:r>
            <a:endParaRPr sz="2400" dirty="0">
              <a:solidFill>
                <a:srgbClr val="000000"/>
              </a:solidFill>
            </a:endParaRPr>
          </a:p>
        </p:txBody>
      </p:sp>
      <p:pic>
        <p:nvPicPr>
          <p:cNvPr id="4" name="Picture 3" descr="A diagram of a driver pass website&#10;&#10;AI-generated content may be incorrect.">
            <a:extLst>
              <a:ext uri="{FF2B5EF4-FFF2-40B4-BE49-F238E27FC236}">
                <a16:creationId xmlns:a16="http://schemas.microsoft.com/office/drawing/2014/main" id="{905A252B-DB38-0C0A-16A5-A86E4804C783}"/>
              </a:ext>
            </a:extLst>
          </p:cNvPr>
          <p:cNvPicPr>
            <a:picLocks noChangeAspect="1"/>
          </p:cNvPicPr>
          <p:nvPr/>
        </p:nvPicPr>
        <p:blipFill>
          <a:blip r:embed="rId5"/>
          <a:stretch>
            <a:fillRect/>
          </a:stretch>
        </p:blipFill>
        <p:spPr>
          <a:xfrm>
            <a:off x="6082111" y="801866"/>
            <a:ext cx="5943600" cy="4535170"/>
          </a:xfrm>
          <a:prstGeom prst="rect">
            <a:avLst/>
          </a:prstGeom>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Activity</a:t>
            </a:r>
            <a:br>
              <a:rPr lang="en-US" dirty="0">
                <a:solidFill>
                  <a:schemeClr val="bg1"/>
                </a:solidFill>
              </a:rPr>
            </a:br>
            <a:r>
              <a:rPr lang="en-US" dirty="0">
                <a:solidFill>
                  <a:schemeClr val="bg1"/>
                </a:solidFill>
              </a:rPr>
              <a:t>Diagram</a:t>
            </a:r>
          </a:p>
        </p:txBody>
      </p:sp>
      <p:pic>
        <p:nvPicPr>
          <p:cNvPr id="4" name="Content Placeholder 3" descr="A diagram of a login activity&#10;&#10;AI-generated content may be incorrect.">
            <a:extLst>
              <a:ext uri="{FF2B5EF4-FFF2-40B4-BE49-F238E27FC236}">
                <a16:creationId xmlns:a16="http://schemas.microsoft.com/office/drawing/2014/main" id="{81B83699-8316-C244-1595-FB9E20FD7A3F}"/>
              </a:ext>
            </a:extLst>
          </p:cNvPr>
          <p:cNvPicPr>
            <a:picLocks noGrp="1" noChangeAspect="1"/>
          </p:cNvPicPr>
          <p:nvPr>
            <p:ph idx="1"/>
          </p:nvPr>
        </p:nvPicPr>
        <p:blipFill>
          <a:blip r:embed="rId5"/>
          <a:stretch>
            <a:fillRect/>
          </a:stretch>
        </p:blipFill>
        <p:spPr>
          <a:xfrm>
            <a:off x="6091238" y="1087244"/>
            <a:ext cx="5305425" cy="4659699"/>
          </a:xfrm>
          <a:prstGeom prst="rect">
            <a:avLst/>
          </a:prstGeom>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Security</a:t>
            </a:r>
          </a:p>
        </p:txBody>
      </p:sp>
      <p:sp>
        <p:nvSpPr>
          <p:cNvPr id="3" name="Content Placeholder 2"/>
          <p:cNvSpPr>
            <a:spLocks noGrp="1"/>
          </p:cNvSpPr>
          <p:nvPr>
            <p:ph idx="1"/>
          </p:nvPr>
        </p:nvSpPr>
        <p:spPr>
          <a:xfrm>
            <a:off x="6090574" y="801866"/>
            <a:ext cx="5306084" cy="5230634"/>
          </a:xfrm>
        </p:spPr>
        <p:txBody>
          <a:bodyPr anchor="ctr">
            <a:normAutofit/>
          </a:bodyPr>
          <a:lstStyle/>
          <a:p>
            <a:r>
              <a:rPr lang="en-US" sz="2400" dirty="0">
                <a:solidFill>
                  <a:srgbClr val="000000"/>
                </a:solidFill>
              </a:rPr>
              <a:t>Login lockouts after 5 failed attempts</a:t>
            </a:r>
          </a:p>
          <a:p>
            <a:r>
              <a:rPr lang="en-US" sz="2400" dirty="0">
                <a:solidFill>
                  <a:srgbClr val="000000"/>
                </a:solidFill>
              </a:rPr>
              <a:t>Encrypted Passwords</a:t>
            </a:r>
          </a:p>
          <a:p>
            <a:r>
              <a:rPr lang="en-US" sz="2400" dirty="0">
                <a:solidFill>
                  <a:srgbClr val="000000"/>
                </a:solidFill>
              </a:rPr>
              <a:t>Only authorized users can access sensitive data</a:t>
            </a:r>
          </a:p>
          <a:p>
            <a:r>
              <a:rPr lang="en-US" sz="2400" dirty="0">
                <a:solidFill>
                  <a:srgbClr val="000000"/>
                </a:solidFill>
              </a:rPr>
              <a:t>Data transmitted between clients and the server will be encrypted using HTTPS encryption</a:t>
            </a:r>
            <a:endParaRPr sz="2400" dirty="0">
              <a:solidFill>
                <a:srgbClr val="000000"/>
              </a:solidFill>
            </a:endParaRP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Limitations</a:t>
            </a:r>
          </a:p>
        </p:txBody>
      </p:sp>
      <p:sp>
        <p:nvSpPr>
          <p:cNvPr id="3" name="Content Placeholder 2"/>
          <p:cNvSpPr>
            <a:spLocks noGrp="1"/>
          </p:cNvSpPr>
          <p:nvPr>
            <p:ph type="body" idx="1"/>
          </p:nvPr>
        </p:nvSpPr>
        <p:spPr>
          <a:xfrm>
            <a:off x="6090574" y="801866"/>
            <a:ext cx="5306084" cy="5230634"/>
          </a:xfrm>
        </p:spPr>
        <p:txBody>
          <a:bodyPr anchor="ctr">
            <a:normAutofit/>
          </a:bodyPr>
          <a:lstStyle/>
          <a:p>
            <a:r>
              <a:rPr lang="en-US" sz="2400" dirty="0">
                <a:solidFill>
                  <a:srgbClr val="000000"/>
                </a:solidFill>
              </a:rPr>
              <a:t>Offline capability will be limited to read only to avoid creating duplicate data.</a:t>
            </a:r>
          </a:p>
          <a:p>
            <a:r>
              <a:rPr lang="en-US" sz="2400" dirty="0" err="1">
                <a:solidFill>
                  <a:srgbClr val="000000"/>
                </a:solidFill>
              </a:rPr>
              <a:t>DriverPass</a:t>
            </a:r>
            <a:r>
              <a:rPr lang="en-US" sz="2400" dirty="0">
                <a:solidFill>
                  <a:srgbClr val="000000"/>
                </a:solidFill>
              </a:rPr>
              <a:t> vehicles and teachers are limited so scheduling will be first come first serve.</a:t>
            </a:r>
          </a:p>
          <a:p>
            <a:r>
              <a:rPr lang="en-US" sz="2400" dirty="0">
                <a:solidFill>
                  <a:srgbClr val="000000"/>
                </a:solidFill>
              </a:rPr>
              <a:t>No budget specified but it is assumed since </a:t>
            </a:r>
            <a:r>
              <a:rPr lang="en-US" sz="2400" dirty="0" err="1">
                <a:solidFill>
                  <a:srgbClr val="000000"/>
                </a:solidFill>
              </a:rPr>
              <a:t>DriverPass</a:t>
            </a:r>
            <a:r>
              <a:rPr lang="en-US" sz="2400" dirty="0">
                <a:solidFill>
                  <a:srgbClr val="000000"/>
                </a:solidFill>
              </a:rPr>
              <a:t> is a small company, they want to keep the overhead small.</a:t>
            </a:r>
          </a:p>
          <a:p>
            <a:r>
              <a:rPr lang="en-US" sz="2400" dirty="0">
                <a:solidFill>
                  <a:srgbClr val="000000"/>
                </a:solidFill>
              </a:rPr>
              <a:t>Admins must be able to edit user info on the front end level to avoid any hard coding or SQL querying</a:t>
            </a: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1497</TotalTime>
  <Words>952</Words>
  <Application>Microsoft Office PowerPoint</Application>
  <PresentationFormat>Widescreen</PresentationFormat>
  <Paragraphs>50</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Erwin, Travis</cp:lastModifiedBy>
  <cp:revision>21</cp:revision>
  <dcterms:created xsi:type="dcterms:W3CDTF">2019-10-14T02:36:52Z</dcterms:created>
  <dcterms:modified xsi:type="dcterms:W3CDTF">2025-12-12T04:33:05Z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